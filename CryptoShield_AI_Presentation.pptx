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00F2FE"/>
            </a:solidFill>
          </c:spPr>
          <c:cat>
            <c:strRef>
              <c:f>Sheet1!$A$2:$A$6</c:f>
              <c:strCache>
                <c:ptCount val="5"/>
                <c:pt idx="0">
                  <c:v>RF</c:v>
                </c:pt>
                <c:pt idx="1">
                  <c:v>XGBoost</c:v>
                </c:pt>
                <c:pt idx="2">
                  <c:v>GCN</c:v>
                </c:pt>
                <c:pt idx="3">
                  <c:v>GAT</c:v>
                </c:pt>
                <c:pt idx="4">
                  <c:v>T-EGNN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0.862</c:v>
                </c:pt>
                <c:pt idx="1">
                  <c:v>0.895</c:v>
                </c:pt>
                <c:pt idx="2">
                  <c:v>0.921</c:v>
                </c:pt>
                <c:pt idx="3">
                  <c:v>0.942</c:v>
                </c:pt>
                <c:pt idx="4">
                  <c:v>0.963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900">
                  <a:solidFill>
                    <a:srgbClr val="F1F5F9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4748B"/>
            </a:solidFill>
          </a:ln>
        </c:spPr>
        <c:txPr>
          <a:bodyPr/>
          <a:lstStyle/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8"/>
        </c:scaling>
        <c:delete val="0"/>
        <c:axPos val="l"/>
        <c:majorGridlines>
          <c:spPr>
            <a:ln>
              <a:solidFill>
                <a:srgbClr val="334055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64748B"/>
            </a:solidFill>
          </a:ln>
        </c:spPr>
        <c:txPr>
          <a:bodyPr/>
          <a:lstStyle/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%</c:v>
                </c:pt>
              </c:strCache>
            </c:strRef>
          </c:tx>
          <c:dPt>
            <c:idx val="0"/>
            <c:spPr>
              <a:solidFill>
                <a:srgbClr val="00F2FE"/>
              </a:solidFill>
            </c:spPr>
          </c:dPt>
          <c:dPt>
            <c:idx val="1"/>
            <c:spPr>
              <a:solidFill>
                <a:srgbClr val="10B981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A78BFA"/>
              </a:solidFill>
            </c:spPr>
          </c:dPt>
          <c:dPt>
            <c:idx val="4"/>
            <c:spPr>
              <a:solidFill>
                <a:srgbClr val="60A5FA"/>
              </a:solidFill>
            </c:spPr>
          </c:dPt>
          <c:dPt>
            <c:idx val="5"/>
            <c:spPr>
              <a:solidFill>
                <a:srgbClr val="F472B6"/>
              </a:solidFill>
            </c:spPr>
          </c:dPt>
          <c:dPt>
            <c:idx val="6"/>
            <c:spPr>
              <a:solidFill>
                <a:srgbClr val="64748B"/>
              </a:solidFill>
            </c:spPr>
          </c:dPt>
          <c:cat>
            <c:strRef>
              <c:f>Sheet1!$A$2:$A$8</c:f>
              <c:strCache>
                <c:ptCount val="7"/>
                <c:pt idx="0">
                  <c:v>Degree Centrality</c:v>
                </c:pt>
                <c:pt idx="1">
                  <c:v>Max Tx Amount</c:v>
                </c:pt>
                <c:pt idx="2">
                  <c:v>Cross-Chain Count</c:v>
                </c:pt>
                <c:pt idx="3">
                  <c:v>Clustering Coeff</c:v>
                </c:pt>
                <c:pt idx="4">
                  <c:v>Active Days</c:v>
                </c:pt>
                <c:pt idx="5">
                  <c:v>Neighbor Count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24.5</c:v>
                </c:pt>
                <c:pt idx="1">
                  <c:v>21.2</c:v>
                </c:pt>
                <c:pt idx="2">
                  <c:v>15.8</c:v>
                </c:pt>
                <c:pt idx="3">
                  <c:v>13.4</c:v>
                </c:pt>
                <c:pt idx="4">
                  <c:v>9.1</c:v>
                </c:pt>
                <c:pt idx="5">
                  <c:v>6.8</c:v>
                </c:pt>
                <c:pt idx="6">
                  <c:v>9.2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>
                  <a:solidFill>
                    <a:srgbClr val="F1F5F9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64748B"/>
            </a:solidFill>
          </a:ln>
        </c:spPr>
        <c:txPr>
          <a:bodyPr/>
          <a:lstStyle/>
          <a:p>
            <a:pPr>
              <a:defRPr sz="1000">
                <a:solidFill>
                  <a:srgbClr val="F1F5F9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</c:scaling>
        <c:delete val="0"/>
        <c:axPos val="b"/>
        <c:majorGridlines>
          <c:spPr>
            <a:ln>
              <a:solidFill>
                <a:srgbClr val="334055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64748B"/>
            </a:solidFill>
          </a:ln>
        </c:spPr>
        <c:txPr>
          <a:bodyPr/>
          <a:lstStyle/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394960" y="822960"/>
            <a:ext cx="1371600" cy="1371600"/>
          </a:xfrm>
          <a:prstGeom prst="hexagon">
            <a:avLst/>
          </a:prstGeom>
          <a:solidFill>
            <a:srgbClr val="003D45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0" y="10972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F2FE"/>
                </a:solidFill>
                <a:latin typeface="Consolas"/>
              </a:defRPr>
            </a:pPr>
            <a: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1F5F9"/>
                </a:solidFill>
                <a:latin typeface="Calibri"/>
              </a:defRPr>
            </a:pPr>
            <a:r>
              <a:t>CryptoShield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4612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A Temporal Explainable Multi-Chain Graph Neural Network</a:t>
            </a:r>
            <a:br/>
            <a:r>
              <a:t>for Cryptocurrency Fraud Detection &amp; Wallet Attribution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4206240"/>
            <a:ext cx="2743200" cy="381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4805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Presenter: Nitin 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84632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Department of Computer Science &amp; 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548640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5532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0B981"/>
                </a:solidFill>
                <a:latin typeface="Consolas"/>
              </a:defRPr>
            </a:pPr>
            <a:r>
              <a:t>94.2%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943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548640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5532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2FE"/>
                </a:solidFill>
                <a:latin typeface="Consolas"/>
              </a:defRPr>
            </a:pPr>
            <a:r>
              <a:t>0.963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5943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AUC-ROC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548640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5532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A78BFA"/>
                </a:solidFill>
                <a:latin typeface="Consolas"/>
              </a:defRPr>
            </a:pPr>
            <a:r>
              <a:t>11.6ms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5943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Latency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548640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5532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59E0B"/>
                </a:solidFill>
                <a:latin typeface="Consolas"/>
              </a:defRPr>
            </a:pPr>
            <a:r>
              <a:t>5 Chains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943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Multi-Chain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2FE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1F5F9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2286000" cy="381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Why current fraud detection fails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F4444"/>
                </a:solidFill>
                <a:latin typeface="Calibri"/>
              </a:defRPr>
            </a:pPr>
            <a:r>
              <a:t>The Threat Landscape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6888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94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F4444"/>
                </a:solidFill>
                <a:latin typeface="Consolas"/>
              </a:defRPr>
            </a:pPr>
            <a:r>
              <a:t>$10B+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Annual financial extortion from ransomware, mixers, phishing, DeFi exploits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06324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88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F4444"/>
                </a:solidFill>
                <a:latin typeface="Consolas"/>
              </a:defRPr>
            </a:pPr>
            <a:r>
              <a:t>Cross-Chain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063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Fraudsters jump between BTC, ETH, BNB, Polygon, Tron to evade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5760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83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F4444"/>
                </a:solidFill>
                <a:latin typeface="Consolas"/>
              </a:defRPr>
            </a:pPr>
            <a:r>
              <a:t>Evolving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657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Peeling chains, Tornado Cash mixers, flash loan attacks bypass static rules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82880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Legacy Approach Flaws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468880"/>
            <a:ext cx="5080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2468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F4444"/>
                </a:solidFill>
                <a:latin typeface="Calibri"/>
              </a:defRPr>
            </a:pPr>
            <a:r>
              <a:t>Static Rules / Blacklists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76148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Easily bypassed by creating new addresses;</a:t>
            </a:r>
            <a:br/>
            <a:r>
              <a:t>no adaptability to novel patterns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429000"/>
            <a:ext cx="5080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59E0B"/>
                </a:solidFill>
                <a:latin typeface="Calibri"/>
              </a:defRPr>
            </a:pPr>
            <a:r>
              <a:t>Tabular ML (XGBoost)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72160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Ignores graph topology &amp; neighbor risk;</a:t>
            </a:r>
            <a:br/>
            <a:r>
              <a:t>each wallet analyzed in isolation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4389120"/>
            <a:ext cx="50800" cy="7315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72B6"/>
                </a:solidFill>
                <a:latin typeface="Calibri"/>
              </a:defRPr>
            </a:pPr>
            <a:r>
              <a:t>Black-Box Deep 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6817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Lack legal &amp; forensic explainability;</a:t>
            </a:r>
            <a:br/>
            <a:r>
              <a:t>regulators cannot audit decisions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CryptoShield AI  |  Nitin S.  |  Dept. of Computer Science &amp; Engineering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355080"/>
            <a:ext cx="1219169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2FE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1F5F9"/>
                </a:solidFill>
                <a:latin typeface="Calibri"/>
              </a:defRPr>
            </a:pPr>
            <a:r>
              <a:t>Key Contributions &amp; Innovations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2286000" cy="381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Four novel contributions to blockchain forensics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9319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F19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F2FE"/>
                </a:solidFill>
                <a:latin typeface="Calibri"/>
              </a:defRPr>
            </a:pPr>
            <a:r>
              <a:t>Multi-Chain</a:t>
            </a:r>
            <a:br/>
            <a:r>
              <a:t>Graph Synthesis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Ingests dynamic transaction streams across 5 major blockchains (BTC, ETH, BNB, MATIC, TRX) using PostgreSQL + Neo4j hybrid storage.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2560320" cy="39319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66160" y="19659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993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F19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Dual-Head</a:t>
            </a:r>
            <a:br/>
            <a:r>
              <a:t>T-EGNN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38328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Jointly outputs Fraud Risk Scores (0-100%) and 8-Class Wallet Attribution (Exchange, Mixer, DeFi, Scam, etc.) from a unified GNN backbone.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2560320" cy="39319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55080" y="196596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993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F19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78BFA"/>
                </a:solidFill>
                <a:latin typeface="Calibri"/>
              </a:defRPr>
            </a:pPr>
            <a:r>
              <a:t>Embedded</a:t>
            </a:r>
            <a:br/>
            <a:r>
              <a:t>XAI Module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38328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Computes normalized feature attributions and sub-graph explanations in-line, without post-hoc inference delays.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828800"/>
            <a:ext cx="2560320" cy="39319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0" y="196596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993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F19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Real-Time</a:t>
            </a:r>
            <a:br/>
            <a:r>
              <a:t>Performance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38328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Achieves 11.6ms query latency, meeting sub-50ms exchange compliance rules for production deployment.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CryptoShield AI  |  Nitin S.  |  Dept. of Computer Science &amp; Engineering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355080"/>
            <a:ext cx="1219169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2FE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1F5F9"/>
                </a:solidFill>
                <a:latin typeface="Calibri"/>
              </a:defRPr>
            </a:pPr>
            <a:r>
              <a:t>System Architecture &amp;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2286000" cy="381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End-to-end multi-chain fraud detection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920240"/>
            <a:ext cx="3200400" cy="7772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99339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2FE"/>
                </a:solidFill>
                <a:latin typeface="Calibri"/>
              </a:defRPr>
            </a:pPr>
            <a:r>
              <a:t>Multi-Chain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3134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BTC, ETH, BNB, MATIC, TRX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05740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103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2FE"/>
                </a:solidFill>
                <a:latin typeface="Consolas"/>
              </a:defRPr>
            </a:pPr>
            <a:r>
              <a:t>Blockchain APIs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05740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103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2FE"/>
                </a:solidFill>
                <a:latin typeface="Consolas"/>
              </a:defRPr>
            </a:pPr>
            <a:r>
              <a:t>5 Chains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6720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4748B"/>
                </a:solidFill>
                <a:latin typeface="Calibri"/>
              </a:defRPr>
            </a:pPr>
            <a:r>
              <a:t>^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880360"/>
            <a:ext cx="3200400" cy="7772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95351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0A5FA"/>
                </a:solidFill>
                <a:latin typeface="Calibri"/>
              </a:defRPr>
            </a:pPr>
            <a:r>
              <a:t>Hybrid Storage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27355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PostgreSQL + Neo4j Graph DB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301752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3063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0A5FA"/>
                </a:solidFill>
                <a:latin typeface="Consolas"/>
              </a:defRPr>
            </a:pPr>
            <a:r>
              <a:t>Data Persistence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01752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0632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0A5FA"/>
                </a:solidFill>
                <a:latin typeface="Consolas"/>
              </a:defRPr>
            </a:pPr>
            <a:r>
              <a:t>12 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36322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4748B"/>
                </a:solidFill>
                <a:latin typeface="Calibri"/>
              </a:defRPr>
            </a:pPr>
            <a:r>
              <a:t>^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840480"/>
            <a:ext cx="3200400" cy="7772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9136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AI Inference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336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PyTorch T-EGNN Model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397764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023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onsolas"/>
              </a:defRPr>
            </a:pPr>
            <a:r>
              <a:t>ML Prediction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97764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4023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onsolas"/>
              </a:defRPr>
            </a:pPr>
            <a:r>
              <a:t>94.2% Acc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4592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4748B"/>
                </a:solidFill>
                <a:latin typeface="Calibri"/>
              </a:defRPr>
            </a:pPr>
            <a:r>
              <a:t>^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4800600"/>
            <a:ext cx="3200400" cy="7772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48737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78BFA"/>
                </a:solidFill>
                <a:latin typeface="Calibri"/>
              </a:defRPr>
            </a:pPr>
            <a:r>
              <a:t>FastAPI Service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51937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REST API + JWT Auth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600" y="493776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4983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78BFA"/>
                </a:solidFill>
                <a:latin typeface="Consolas"/>
              </a:defRPr>
            </a:pPr>
            <a:r>
              <a:t>Backend API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493776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4983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78BFA"/>
                </a:solidFill>
                <a:latin typeface="Consolas"/>
              </a:defRPr>
            </a:pPr>
            <a:r>
              <a:t>14 Routers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5552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4748B"/>
                </a:solidFill>
                <a:latin typeface="Calibri"/>
              </a:defRPr>
            </a:pPr>
            <a:r>
              <a:t>^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80560" y="5760720"/>
            <a:ext cx="3200400" cy="7772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58338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59E0B"/>
                </a:solidFill>
                <a:latin typeface="Calibri"/>
              </a:defRPr>
            </a:pPr>
            <a:r>
              <a:t>React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61539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Cytoscape.js Interactive Canvas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71600" y="589788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0" y="5943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59E0B"/>
                </a:solidFill>
                <a:latin typeface="Consolas"/>
              </a:defRPr>
            </a:pPr>
            <a:r>
              <a:t>Frontend UI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38160" y="589788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60" y="5943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59E0B"/>
                </a:solidFill>
                <a:latin typeface="Consolas"/>
              </a:defRPr>
            </a:pPr>
            <a:r>
              <a:t>13 Pages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CryptoShield AI  |  Nitin S.  |  Dept. of Computer Science &amp; Engineering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355080"/>
            <a:ext cx="1219169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2FE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1F5F9"/>
                </a:solidFill>
                <a:latin typeface="Calibri"/>
              </a:defRPr>
            </a:pPr>
            <a:r>
              <a:t>14-Dimensional Wallet Feature Vector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2286000" cy="381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x_v in R^14 — Four categories of engineered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4114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2780" y="1841500"/>
            <a:ext cx="2534920" cy="54864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F19"/>
                </a:solidFill>
                <a:latin typeface="Calibri"/>
              </a:defRPr>
            </a:pPr>
            <a:r>
              <a:t>Transaction Velocity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2FE"/>
                </a:solidFill>
                <a:latin typeface="Consolas"/>
              </a:defRPr>
            </a:pPr>
            <a:r>
              <a:t>3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incoming_tx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outgoing_tx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active_days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828800"/>
            <a:ext cx="2560320" cy="4114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1700" y="1841500"/>
            <a:ext cx="253492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F19"/>
                </a:solidFill>
                <a:latin typeface="Calibri"/>
              </a:defRPr>
            </a:pPr>
            <a:r>
              <a:t>Monetary &amp; Gas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468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0B981"/>
                </a:solidFill>
                <a:latin typeface="Consolas"/>
              </a:defRPr>
            </a:pPr>
            <a:r>
              <a:t>4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avg_tx_amount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24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max_tx_amount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gas_usage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828800"/>
            <a:ext cx="2560320" cy="4114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0620" y="1841500"/>
            <a:ext cx="2534920" cy="5486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F19"/>
                </a:solidFill>
                <a:latin typeface="Calibri"/>
              </a:defRPr>
            </a:pPr>
            <a:r>
              <a:t>Graph Centrality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468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78BFA"/>
                </a:solidFill>
                <a:latin typeface="Consolas"/>
              </a:defRPr>
            </a:pPr>
            <a:r>
              <a:t>5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neighbor_count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24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degree_centrality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betweenness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pagerank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clustering_coeff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1828800"/>
            <a:ext cx="2560320" cy="4114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19540" y="1841500"/>
            <a:ext cx="253492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F19"/>
                </a:solidFill>
                <a:latin typeface="Calibri"/>
              </a:defRPr>
            </a:pPr>
            <a:r>
              <a:t>Diversity &amp; Cross-Chain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2468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59E0B"/>
                </a:solidFill>
                <a:latin typeface="Consolas"/>
              </a:defRPr>
            </a:pPr>
            <a:r>
              <a:t>2 features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token_diversity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24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cross_chain_tx_count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0" y="6080760"/>
            <a:ext cx="3931920" cy="4114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0" y="610819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2FE"/>
                </a:solidFill>
                <a:latin typeface="Calibri"/>
              </a:defRPr>
            </a:pPr>
            <a:r>
              <a:t>Total: 14 Engineered Features per Wallet Node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CryptoShield AI  |  Nitin S.  |  Dept. of Computer Science &amp; Engineering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355080"/>
            <a:ext cx="1219169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2FE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1F5F9"/>
                </a:solidFill>
                <a:latin typeface="Calibri"/>
              </a:defRPr>
            </a:pPr>
            <a:r>
              <a:t>T-EGNN Model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2286000" cy="381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Temporal Explainable Graph Neural Network — dual-head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4572000" cy="685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0195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4A3B8"/>
                </a:solidFill>
                <a:latin typeface="Calibri"/>
              </a:defRPr>
            </a:pPr>
            <a:r>
              <a:t>Input: x_v in R^14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14-dim wallet feature vector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4638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4748B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4572000" cy="685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7063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2FE"/>
                </a:solidFill>
                <a:latin typeface="Calibri"/>
              </a:defRPr>
            </a:pPr>
            <a:r>
              <a:t>Linear Projection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632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LayerNorm(W_0 * 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3324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4748B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4572000" cy="685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63931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0A5FA"/>
                </a:solidFill>
                <a:latin typeface="Calibri"/>
              </a:defRPr>
            </a:pPr>
            <a:r>
              <a:t>3x GCN Layers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319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Symmetric normalized message passing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2011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4748B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34840"/>
            <a:ext cx="4572000" cy="685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0799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Temporal Self-Attention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006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Multi-head scaled dot-product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0352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94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F4444"/>
                </a:solidFill>
                <a:latin typeface="Calibri"/>
              </a:defRPr>
            </a:pPr>
            <a:r>
              <a:t>Fraud Score Head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692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Sigmoid(MLP(Z))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978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[0.0 - 1.0]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0" y="530352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5394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Calibri"/>
              </a:defRPr>
            </a:pPr>
            <a:r>
              <a:t>Attribution 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6692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Softmax(MLP(Z))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58978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8 Classes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1828800"/>
            <a:ext cx="5669280" cy="45720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20116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F2FE"/>
                </a:solidFill>
                <a:latin typeface="Calibri"/>
              </a:defRPr>
            </a:pPr>
            <a:r>
              <a:t>Model Specifications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240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Layers: 3x GCN + 1x Temporal Attention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4688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Hidden Dim: 128 -&gt; 64 -&gt; 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6974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Attention Heads: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926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Activation: LeakyReLU (a=0.2)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383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Multi-Task Loss Function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6118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L_total = 1.0 * BCE + 0.5 * CE + 1e-5 * L2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069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78BFA"/>
                </a:solidFill>
                <a:latin typeface="Calibri"/>
              </a:defRPr>
            </a:pPr>
            <a:r>
              <a:t>Wallet Categories (8 Classes)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2976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Unknown | Exchange | DeFi | NFT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526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Gaming | Mixer | Merchant | Scam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9834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Key Innovations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5212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+ Residual skip connections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4406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+ LayerNorm at each GCN layer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669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+ Temporal attention over node embeddings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CryptoShield AI  |  Nitin S.  |  Dept. of Computer Science &amp; Engineering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355080"/>
            <a:ext cx="1219169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2FE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1F5F9"/>
                </a:solidFill>
                <a:latin typeface="Calibri"/>
              </a:defRPr>
            </a:pPr>
            <a:r>
              <a:t>Mathematical Formulation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2286000" cy="381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Core equations driving the T-EGNN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965960"/>
            <a:ext cx="365760" cy="365760"/>
          </a:xfrm>
          <a:prstGeom prst="ellipse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842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F19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2FE"/>
                </a:solidFill>
                <a:latin typeface="Calibri"/>
              </a:defRPr>
            </a:pPr>
            <a:r>
              <a:t>Spatial GCN Message Passing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6888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060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F2FE"/>
                </a:solidFill>
                <a:latin typeface="Consolas"/>
              </a:defRPr>
            </a:pPr>
            <a:r>
              <a:t>H^(l+1) = sigma(D^(-1/2) * A_tilde * D^(-1/2) * H^(l) * W^(l))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148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Symmetric normalization with self-loops; residual skip + LayerNorm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2880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0560" y="196596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9842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F19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0116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Multi-Head Temporal Attention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246888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6060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F2FE"/>
                </a:solidFill>
                <a:latin typeface="Consolas"/>
              </a:defRPr>
            </a:pPr>
            <a:r>
              <a:t>A_temp = Softmax(Q * K^T / sqrt(d_k)) * 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1148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Scaled dot-product attention captures temporal transaction dynamics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82880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83880" y="1965960"/>
            <a:ext cx="365760" cy="3657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19842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F19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116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A78BFA"/>
                </a:solidFill>
                <a:latin typeface="Calibri"/>
              </a:defRPr>
            </a:pPr>
            <a:r>
              <a:t>Multi-Task Objective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246888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26060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F2FE"/>
                </a:solidFill>
                <a:latin typeface="Consolas"/>
              </a:defRPr>
            </a:pPr>
            <a:r>
              <a:t>L = 1.0*BCE + 0.5*CE + 1e-5*||Theta||_2^2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41148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Joint optimization: fraud scoring + wallet attribution + L2 regularization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CryptoShield AI  |  Nitin S.  |  Dept. of Computer Science &amp; Engineering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55080"/>
            <a:ext cx="1219169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2FE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1F5F9"/>
                </a:solidFill>
                <a:latin typeface="Calibri"/>
              </a:defRPr>
            </a:pPr>
            <a:r>
              <a:t>Experimental Benchmark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2286000" cy="381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250,000 wallets | 80/10/10 stratified temporal split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685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14400"/>
                <a:gridCol w="914400"/>
                <a:gridCol w="82296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B0F19"/>
                          </a:solidFill>
                          <a:latin typeface="Consolas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B0F19"/>
                          </a:solidFill>
                          <a:latin typeface="Consolas"/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0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B0F19"/>
                          </a:solidFill>
                          <a:latin typeface="Consolas"/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0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B0F19"/>
                          </a:solidFill>
                          <a:latin typeface="Consolas"/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0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B0F19"/>
                          </a:solidFill>
                          <a:latin typeface="Consolas"/>
                        </a:defRPr>
                      </a:pPr>
                      <a:r>
                        <a:t>F1-Score</a:t>
                      </a:r>
                    </a:p>
                  </a:txBody>
                  <a:tcPr anchor="ctr">
                    <a:solidFill>
                      <a:srgbClr val="0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B0F19"/>
                          </a:solidFill>
                          <a:latin typeface="Consolas"/>
                        </a:defRPr>
                      </a:pPr>
                      <a:r>
                        <a:t>AUC-ROC</a:t>
                      </a:r>
                    </a:p>
                  </a:txBody>
                  <a:tcPr anchor="ctr">
                    <a:solidFill>
                      <a:srgbClr val="0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B0F19"/>
                          </a:solidFill>
                          <a:latin typeface="Consolas"/>
                        </a:defRPr>
                      </a:pPr>
                      <a:r>
                        <a:t>Latency</a:t>
                      </a:r>
                    </a:p>
                  </a:txBody>
                  <a:tcPr anchor="ctr">
                    <a:solidFill>
                      <a:srgbClr val="00F2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84.1%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0.812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0.795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0.803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0.862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1.2 ms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XGBoost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87.6%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0.854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0.831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0.842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0.895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2.5 ms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Standard GCN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89.8%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0.881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0.875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0.878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0.921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8.4 ms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GAT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91.5%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0.902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0.891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0.896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0.942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1F5F9"/>
                          </a:solidFill>
                          <a:latin typeface="Consolas"/>
                        </a:defRPr>
                      </a:pPr>
                      <a:r>
                        <a:t>14.8 ms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T-EGNN (Ours)</a:t>
                      </a:r>
                    </a:p>
                  </a:txBody>
                  <a:tcPr anchor="ctr">
                    <a:solidFill>
                      <a:srgbClr val="0A2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94.2%</a:t>
                      </a:r>
                    </a:p>
                  </a:txBody>
                  <a:tcPr anchor="ctr">
                    <a:solidFill>
                      <a:srgbClr val="0A2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0.938</a:t>
                      </a:r>
                    </a:p>
                  </a:txBody>
                  <a:tcPr anchor="ctr">
                    <a:solidFill>
                      <a:srgbClr val="0A2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0.894</a:t>
                      </a:r>
                    </a:p>
                  </a:txBody>
                  <a:tcPr anchor="ctr">
                    <a:solidFill>
                      <a:srgbClr val="0A2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0.915</a:t>
                      </a:r>
                    </a:p>
                  </a:txBody>
                  <a:tcPr anchor="ctr">
                    <a:solidFill>
                      <a:srgbClr val="0A2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0.963</a:t>
                      </a:r>
                    </a:p>
                  </a:txBody>
                  <a:tcPr anchor="ctr">
                    <a:solidFill>
                      <a:srgbClr val="0A2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11.6 ms</a:t>
                      </a:r>
                    </a:p>
                  </a:txBody>
                  <a:tcPr anchor="ctr">
                    <a:solidFill>
                      <a:srgbClr val="0A2E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0" y="1828800"/>
            <a:ext cx="3840480" cy="27432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0" y="1965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2FE"/>
                </a:solidFill>
                <a:latin typeface="Calibri"/>
              </a:defRPr>
            </a:pPr>
            <a:r>
              <a:t>Key 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377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Consolas"/>
              </a:defRPr>
            </a:pPr>
            <a:r>
              <a:t>+10.1%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2377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accuracy over Random Forest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880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2FE"/>
                </a:solidFill>
                <a:latin typeface="Consolas"/>
              </a:defRPr>
            </a:pPr>
            <a:r>
              <a:t>+4.4%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from adding Temporal Attention to GCN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383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59E0B"/>
                </a:solidFill>
                <a:latin typeface="Consolas"/>
              </a:defRPr>
            </a:pPr>
            <a:r>
              <a:t>11.6ms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3383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real-time inference (&lt; 50ms requirement)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886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A78BFA"/>
                </a:solidFill>
                <a:latin typeface="Consolas"/>
              </a:defRPr>
            </a:pPr>
            <a:r>
              <a:t>0.963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3886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AUC-ROC — best among all models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" y="4754880"/>
          <a:ext cx="5029200" cy="1554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4008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CryptoShield AI  |  Nitin S.  |  Dept. of Computer Science &amp; Engineering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355080"/>
            <a:ext cx="1219169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2FE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1F5F9"/>
                </a:solidFill>
                <a:latin typeface="Calibri"/>
              </a:defRPr>
            </a:pPr>
            <a:r>
              <a:t>Explainable AI &amp; Feature Importance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2286000" cy="381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Gradient-based normalized feature attribution for forensic transparency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828800"/>
          <a:ext cx="54864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0" y="182880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011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F2FE"/>
                </a:solidFill>
                <a:latin typeface="Calibri"/>
              </a:defRPr>
            </a:pPr>
            <a:r>
              <a:t>Attribution Formula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2377440"/>
            <a:ext cx="4754880" cy="731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48716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F2FE"/>
                </a:solidFill>
                <a:latin typeface="Consolas"/>
              </a:defRPr>
            </a:pPr>
            <a:r>
              <a:t>S(x_i) = |df/dx_i * x_i| / sum_j|df/dx_j * x_j|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3291840"/>
            <a:ext cx="38100" cy="64008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1F5F9"/>
                </a:solidFill>
                <a:latin typeface="Calibri"/>
              </a:defRPr>
            </a:pPr>
            <a:r>
              <a:t>Degree Centrality (24.5%)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35661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Spikes in connection count signal rapid fund disbursement — peeling chains create many one-time counterparties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4005072"/>
            <a:ext cx="38100" cy="64008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4005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1F5F9"/>
                </a:solidFill>
                <a:latin typeface="Calibri"/>
              </a:defRPr>
            </a:pPr>
            <a:r>
              <a:t>Max Tx Amount (21.2%)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42793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Peak single burst transfers indicate structuring or mixer deposit behavior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4718304"/>
            <a:ext cx="38100" cy="64008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47183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1F5F9"/>
                </a:solidFill>
                <a:latin typeface="Calibri"/>
              </a:defRPr>
            </a:pPr>
            <a:r>
              <a:t>Cross-Chain Count (15.8%)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49926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Frequent asset swaps across chain bridges suggest cross-chain evasion tactics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5431536"/>
            <a:ext cx="38100" cy="64008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54315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1F5F9"/>
                </a:solidFill>
                <a:latin typeface="Calibri"/>
              </a:defRPr>
            </a:pPr>
            <a:r>
              <a:t>Clustering Coefficient (13.4%)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570585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Interconnected relay rings between wallets in known mixer networks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CryptoShield AI  |  Nitin S.  |  Dept. of Computer Science &amp; Engineering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355080"/>
            <a:ext cx="1219169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2FE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1F5F9"/>
                </a:solidFill>
                <a:latin typeface="Calibri"/>
              </a:defRPr>
            </a:pPr>
            <a:r>
              <a:t>Forensic Case Study: Mixer Obfuscation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2286000" cy="381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Real-world detection scenario with automated reasoning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486400" cy="13716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F4444"/>
                </a:solidFill>
                <a:latin typeface="Consolas"/>
              </a:defRPr>
            </a:pPr>
            <a:r>
              <a:t>TARGET ADDRESS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0x742d35Cc6634C0532925a3b844Bc454e4438f44e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FRAUD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F4444"/>
                </a:solidFill>
                <a:latin typeface="Consolas"/>
              </a:defRPr>
            </a:pPr>
            <a:r>
              <a:t>92.4%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6517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8346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A78BFA"/>
                </a:solidFill>
                <a:latin typeface="Consolas"/>
              </a:defRPr>
            </a:pPr>
            <a:r>
              <a:t>Mixer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6517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CONFIDENCE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8346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0B981"/>
                </a:solidFill>
                <a:latin typeface="Consolas"/>
              </a:defRPr>
            </a:pPr>
            <a:r>
              <a:t>96.1%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7472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66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2FE"/>
                </a:solidFill>
                <a:latin typeface="Consolas"/>
              </a:defRPr>
            </a:pPr>
            <a:r>
              <a:t>LOCAL TRANSACTION SUB-GRAPH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114800"/>
            <a:ext cx="1280160" cy="731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187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0B981"/>
                </a:solidFill>
                <a:latin typeface="Consolas"/>
              </a:defRPr>
            </a:pPr>
            <a:r>
              <a:t>Victim Wallet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805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BD5E1"/>
                </a:solidFill>
                <a:latin typeface="Consolas"/>
              </a:defRPr>
            </a:pPr>
            <a:r>
              <a:t>Risk: 12.0%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08960" y="3931920"/>
            <a:ext cx="1280160" cy="731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40050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EF4444"/>
                </a:solidFill>
                <a:latin typeface="Consolas"/>
              </a:defRPr>
            </a:pPr>
            <a:r>
              <a:t>Suspect (Target)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2976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BD5E1"/>
                </a:solidFill>
                <a:latin typeface="Consolas"/>
              </a:defRPr>
            </a:pPr>
            <a:r>
              <a:t>Risk: 92.4%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5212080"/>
            <a:ext cx="1280160" cy="731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52852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EF4444"/>
                </a:solidFill>
                <a:latin typeface="Consolas"/>
              </a:defRPr>
            </a:pPr>
            <a:r>
              <a:t>Mixer Relay #1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5778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BD5E1"/>
                </a:solidFill>
                <a:latin typeface="Consolas"/>
              </a:defRPr>
            </a:pPr>
            <a:r>
              <a:t>Risk: 98.1%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08960" y="5212080"/>
            <a:ext cx="1280160" cy="731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52852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Mixer Relay #2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5778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BD5E1"/>
                </a:solidFill>
                <a:latin typeface="Consolas"/>
              </a:defRPr>
            </a:pPr>
            <a:r>
              <a:t>Risk: 95.7%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5212080"/>
            <a:ext cx="1280160" cy="731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52852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EF4444"/>
                </a:solidFill>
                <a:latin typeface="Consolas"/>
              </a:defRPr>
            </a:pPr>
            <a:r>
              <a:t>Mixer Relay #3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55778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BD5E1"/>
                </a:solidFill>
                <a:latin typeface="Consolas"/>
              </a:defRPr>
            </a:pPr>
            <a:r>
              <a:t>Risk: 99.0%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182880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19659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F2FE"/>
                </a:solidFill>
                <a:latin typeface="Calibri"/>
              </a:defRPr>
            </a:pPr>
            <a:r>
              <a:t>Automated Reasoning Factors</a:t>
            </a:r>
          </a:p>
        </p:txBody>
      </p:sp>
      <p:sp>
        <p:nvSpPr>
          <p:cNvPr id="34" name="Oval 33"/>
          <p:cNvSpPr/>
          <p:nvPr/>
        </p:nvSpPr>
        <p:spPr>
          <a:xfrm>
            <a:off x="6675120" y="2468880"/>
            <a:ext cx="320040" cy="3200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248716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B0F19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24231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F4444"/>
                </a:solidFill>
                <a:latin typeface="Calibri"/>
              </a:defRPr>
            </a:pPr>
            <a:r>
              <a:t>Risk Factor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274320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Abnormally high degree centrality coupled with low active days — signature of a rapid peeling chain pattern</a:t>
            </a:r>
          </a:p>
        </p:txBody>
      </p:sp>
      <p:sp>
        <p:nvSpPr>
          <p:cNvPr id="38" name="Oval 37"/>
          <p:cNvSpPr/>
          <p:nvPr/>
        </p:nvSpPr>
        <p:spPr>
          <a:xfrm>
            <a:off x="6675120" y="352044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35387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B0F19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34747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59E0B"/>
                </a:solidFill>
                <a:latin typeface="Calibri"/>
              </a:defRPr>
            </a:pPr>
            <a:r>
              <a:t>Risk Factor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379476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Outbound transaction split evenly into identical micro-amounts across 85 distinct counterparties within a 12-minute window</a:t>
            </a:r>
          </a:p>
        </p:txBody>
      </p:sp>
      <p:sp>
        <p:nvSpPr>
          <p:cNvPr id="42" name="Oval 41"/>
          <p:cNvSpPr/>
          <p:nvPr/>
        </p:nvSpPr>
        <p:spPr>
          <a:xfrm>
            <a:off x="6675120" y="4572000"/>
            <a:ext cx="320040" cy="3200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459028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B0F19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45262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Calibri"/>
              </a:defRPr>
            </a:pPr>
            <a:r>
              <a:t>Risk Factor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484632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High clustering coefficient (0.78) with verified blacklisted mixer relay contracts on-chain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CryptoShield AI  |  Nitin S.  |  Dept. of Computer Science &amp; Engineering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355080"/>
            <a:ext cx="1219169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2FE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1F5F9"/>
                </a:solidFill>
                <a:latin typeface="Calibri"/>
              </a:defRPr>
            </a:pPr>
            <a:r>
              <a:t>Full-Stack Production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2286000" cy="381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Enterprise-grade platform with real-time capabilities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383280" cy="38404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2780" y="1841500"/>
            <a:ext cx="3357880" cy="4572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F19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FastAPI (Python 3.11)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SQLAlchemy 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Neo4j Driver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PyTorch Geometric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JWT 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54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14 API Routers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383280" cy="38404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6100" y="1841500"/>
            <a:ext cx="335788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9019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F19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468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React 18 + Vite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926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Tailwind CSS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383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Cytoscape.js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840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Recharts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Zustand State Mgmt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754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13 Pages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1828800"/>
            <a:ext cx="3383280" cy="38404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59420" y="1841500"/>
            <a:ext cx="3357880" cy="457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19019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F19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468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Docker Compose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926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PostgreSQL 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383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Neo4j 5.x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840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Alembic Migrations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JWT 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754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Role-Based 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52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2FE"/>
                </a:solidFill>
                <a:latin typeface="Calibri"/>
              </a:defRPr>
            </a:pPr>
            <a:r>
              <a:t>Key Application Modules: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17520" y="5833872"/>
            <a:ext cx="1371600" cy="320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17520" y="58704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8BDF8"/>
                </a:solidFill>
                <a:latin typeface="Consolas"/>
              </a:defRPr>
            </a:pPr>
            <a:r>
              <a:t>Fraud Detection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26280" y="5833872"/>
            <a:ext cx="1371600" cy="320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58704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8BDF8"/>
                </a:solidFill>
                <a:latin typeface="Consolas"/>
              </a:defRPr>
            </a:pPr>
            <a:r>
              <a:t>Wallet Attribution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0" y="5833872"/>
            <a:ext cx="1371600" cy="320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58704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8BDF8"/>
                </a:solidFill>
                <a:latin typeface="Consolas"/>
              </a:defRPr>
            </a:pPr>
            <a:r>
              <a:t>Graph Canvas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43800" y="5833872"/>
            <a:ext cx="1371600" cy="320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43800" y="58704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8BDF8"/>
                </a:solidFill>
                <a:latin typeface="Consolas"/>
              </a:defRPr>
            </a:pPr>
            <a:r>
              <a:t>Investigation Cases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52560" y="5833872"/>
            <a:ext cx="1371600" cy="320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52560" y="58704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8BDF8"/>
                </a:solidFill>
                <a:latin typeface="Consolas"/>
              </a:defRPr>
            </a:pPr>
            <a:r>
              <a:t>Blacklist CRUD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561320" y="5833872"/>
            <a:ext cx="1371600" cy="320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61320" y="58704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8BDF8"/>
                </a:solidFill>
                <a:latin typeface="Consolas"/>
              </a:defRPr>
            </a:pPr>
            <a:r>
              <a:t>PDF Reports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CryptoShield AI  |  Nitin S.  |  Dept. of Computer Science &amp; Engineering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355080"/>
            <a:ext cx="1219169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2FE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1F5F9"/>
                </a:solidFill>
                <a:latin typeface="Calibri"/>
              </a:defRPr>
            </a:pPr>
            <a:r>
              <a:t>Conclusion &amp; 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2286000" cy="381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Summary of achievements and directions for future research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Key Achievements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Consolas"/>
              </a:defRPr>
            </a:pPr>
            <a: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6888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1F5F9"/>
                </a:solidFill>
                <a:latin typeface="Calibri"/>
              </a:defRPr>
            </a:pPr>
            <a:r>
              <a:t>Unified 5-Chain Graph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432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BTC, ETH, BNB, MATIC, TRX in a single integrated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Consolas"/>
              </a:defRPr>
            </a:pPr>
            <a:r>
              <a:t>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0896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1F5F9"/>
                </a:solidFill>
                <a:latin typeface="Calibri"/>
              </a:defRPr>
            </a:pPr>
            <a:r>
              <a:t>94.2% Classification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3832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Outperforming all baselines including GAT and XGBoost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49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Consolas"/>
              </a:defRPr>
            </a:pPr>
            <a:r>
              <a:t>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74904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1F5F9"/>
                </a:solidFill>
                <a:latin typeface="Calibri"/>
              </a:defRPr>
            </a:pPr>
            <a:r>
              <a:t>0.963 AUC-ROC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02336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State-of-the-art discrimination between fraudulent and legitimate wallets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Consolas"/>
              </a:defRPr>
            </a:pPr>
            <a:r>
              <a:t>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38912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1F5F9"/>
                </a:solidFill>
                <a:latin typeface="Calibri"/>
              </a:defRPr>
            </a:pPr>
            <a:r>
              <a:t>11.6ms Inference 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6634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Sub-12ms real-time query speed for exchange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292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Consolas"/>
              </a:defRPr>
            </a:pPr>
            <a:r>
              <a:t>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02920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1F5F9"/>
                </a:solidFill>
                <a:latin typeface="Calibri"/>
              </a:defRPr>
            </a:pPr>
            <a:r>
              <a:t>Native Explainability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3035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Transparent feature attributions without post-hoc overhead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82880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A78BFA"/>
                </a:solidFill>
                <a:latin typeface="Calibri"/>
              </a:defRPr>
            </a:pPr>
            <a:r>
              <a:t>Future Roadmap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468880"/>
            <a:ext cx="50800" cy="82296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2468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2FE"/>
                </a:solidFill>
                <a:latin typeface="Calibri"/>
              </a:defRPr>
            </a:pPr>
            <a:r>
              <a:t>Zero-Knowledge Fraud Verification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ZK-SNARK auditing without revealing user balance privacy; regulatory compliance with privacy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520440"/>
            <a:ext cx="5080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3520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Streaming Dynamic GNNs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8404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Real-time block stream ingestion via PyTorch Geometric Temporal for live transaction monitoring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4572000"/>
            <a:ext cx="5080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59E0B"/>
                </a:solidFill>
                <a:latin typeface="Calibri"/>
              </a:defRPr>
            </a:pPr>
            <a:r>
              <a:t>L2 Network Expansion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8920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Arbitrum, Optimism, ZK-Sync, and Solana network support for comprehensive coverage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CryptoShield AI  |  Nitin S.  |  Dept. of Computer Science &amp; Engineering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355080"/>
            <a:ext cx="1219169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394960" y="1371600"/>
            <a:ext cx="1371600" cy="1371600"/>
          </a:xfrm>
          <a:prstGeom prst="hexagon">
            <a:avLst/>
          </a:prstGeom>
          <a:solidFill>
            <a:srgbClr val="003D45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0" y="16459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F2FE"/>
                </a:solidFill>
                <a:latin typeface="Consolas"/>
              </a:defRPr>
            </a:pPr>
            <a: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175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1F5F9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749039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CBD5E1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4297680"/>
            <a:ext cx="2743200" cy="381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A3B8"/>
                </a:solidFill>
                <a:latin typeface="Calibri"/>
              </a:defRPr>
            </a:pPr>
            <a:r>
              <a:t>Author: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F2FE"/>
                </a:solidFill>
                <a:latin typeface="Consolas"/>
              </a:defRPr>
            </a:pPr>
            <a:r>
              <a:t>Nitin 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983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A3B8"/>
                </a:solidFill>
                <a:latin typeface="Calibri"/>
              </a:defRPr>
            </a:pPr>
            <a:r>
              <a:t>Email: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4983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0B981"/>
                </a:solidFill>
                <a:latin typeface="Consolas"/>
              </a:defRPr>
            </a:pPr>
            <a:r>
              <a:t>nitin@cryptoshield.ai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A3B8"/>
                </a:solidFill>
                <a:latin typeface="Calibri"/>
              </a:defRPr>
            </a:pPr>
            <a:r>
              <a:t>Repository: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5303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78BFA"/>
                </a:solidFill>
                <a:latin typeface="Consolas"/>
              </a:defRPr>
            </a:pPr>
            <a:r>
              <a:t>Nitins2005/blockchain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5669280"/>
            <a:ext cx="1920240" cy="6400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57424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onsolas"/>
              </a:defRPr>
            </a:pPr>
            <a:r>
              <a:t>94.2%  Accuracy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5669280"/>
            <a:ext cx="1920240" cy="6400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57424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2FE"/>
                </a:solidFill>
                <a:latin typeface="Consolas"/>
              </a:defRPr>
            </a:pPr>
            <a:r>
              <a:t>0.963  AUC-ROC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5669280"/>
            <a:ext cx="1920240" cy="6400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57424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78BFA"/>
                </a:solidFill>
                <a:latin typeface="Consolas"/>
              </a:defRPr>
            </a:pPr>
            <a:r>
              <a:t>11.6ms  Latency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5669280"/>
            <a:ext cx="1920240" cy="6400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57424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59E0B"/>
                </a:solidFill>
                <a:latin typeface="Consolas"/>
              </a:defRPr>
            </a:pPr>
            <a:r>
              <a:t>5 Chains  Multi-Chain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